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embeddedFontLst>
    <p:embeddedFont>
      <p:font typeface="Caladea" panose="020B0604020202020204" charset="0"/>
      <p:regular r:id="rId15"/>
    </p:embeddedFont>
    <p:embeddedFont>
      <p:font typeface="Caladea Bold" panose="020B0604020202020204" charset="0"/>
      <p:regular r:id="rId16"/>
    </p:embeddedFont>
    <p:embeddedFont>
      <p:font typeface="Carlito" panose="020B0604020202020204" charset="0"/>
      <p:regular r:id="rId17"/>
    </p:embeddedFont>
    <p:embeddedFont>
      <p:font typeface="Inter" panose="020B0604020202020204" charset="0"/>
      <p:regular r:id="rId18"/>
    </p:embeddedFont>
    <p:embeddedFont>
      <p:font typeface="Inter Bold" panose="020B0604020202020204" charset="0"/>
      <p:regular r:id="rId19"/>
    </p:embeddedFont>
    <p:embeddedFont>
      <p:font typeface="Manrope Bold" panose="020B0604020202020204" charset="0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07284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0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619" cy="6858000"/>
          </a:xfrm>
          <a:prstGeom prst="rect">
            <a:avLst/>
          </a:prstGeom>
          <a:solidFill>
            <a:srgbClr val="16202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15916"/>
            <a:ext cx="12188619" cy="2541984"/>
          </a:xfrm>
          <a:prstGeom prst="rect">
            <a:avLst/>
          </a:prstGeom>
          <a:solidFill>
            <a:srgbClr val="223040"/>
          </a:solidFill>
          <a:ln/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3660981"/>
              </p:ext>
            </p:extLst>
          </p:nvPr>
        </p:nvGraphicFramePr>
        <p:xfrm>
          <a:off x="640044" y="4708823"/>
          <a:ext cx="11118772" cy="1152763"/>
        </p:xfrm>
        <a:graphic>
          <a:graphicData uri="http://schemas.openxmlformats.org/drawingml/2006/table">
            <a:tbl>
              <a:tblPr/>
              <a:tblGrid>
                <a:gridCol w="27430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63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163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0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645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kern="0" spc="150" dirty="0">
                          <a:solidFill>
                            <a:srgbClr val="0E9F8C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STUDENT NAME</a:t>
                      </a:r>
                      <a:endParaRPr lang="en-US" sz="9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799" marR="50799" marT="13716" marB="13716" anchor="ctr">
                    <a:lnL w="38100" cap="flat" cmpd="sng" algn="ctr">
                      <a:solidFill>
                        <a:srgbClr val="162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162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162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162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kern="0" spc="150" dirty="0">
                          <a:solidFill>
                            <a:srgbClr val="0E9F8C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ROLL NUMBER</a:t>
                      </a:r>
                      <a:endParaRPr lang="en-US" sz="9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799" marR="50799" marT="13716" marB="13716" anchor="ctr">
                    <a:lnL w="38100" cap="flat" cmpd="sng" algn="ctr">
                      <a:solidFill>
                        <a:srgbClr val="162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162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162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162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kern="0" spc="150" dirty="0">
                          <a:solidFill>
                            <a:srgbClr val="0E9F8C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PROGRAMME</a:t>
                      </a:r>
                      <a:endParaRPr lang="en-US" sz="9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799" marR="50799" marT="13716" marB="13716" anchor="ctr">
                    <a:lnL w="38100" cap="flat" cmpd="sng" algn="ctr">
                      <a:solidFill>
                        <a:srgbClr val="162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162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162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162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kern="0" spc="150" dirty="0">
                          <a:solidFill>
                            <a:srgbClr val="0E9F8C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SECTION</a:t>
                      </a:r>
                      <a:endParaRPr lang="en-US" sz="9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799" marR="50799" marT="13716" marB="13716" anchor="ctr">
                    <a:lnL w="38100" cap="flat" cmpd="sng" algn="ctr">
                      <a:solidFill>
                        <a:srgbClr val="162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162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162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162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926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Sahil Gautam</a:t>
                      </a:r>
                      <a:endParaRPr lang="en-US" sz="13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799" marR="50799" marT="13716" marB="13716" anchor="ctr">
                    <a:lnL w="38100" cap="flat" cmpd="sng" algn="ctr">
                      <a:solidFill>
                        <a:srgbClr val="162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162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162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162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CS-23411430</a:t>
                      </a:r>
                      <a:endParaRPr lang="en-US" sz="13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799" marR="50799" marT="13716" marB="13716" anchor="ctr">
                    <a:lnL w="38100" cap="flat" cmpd="sng" algn="ctr">
                      <a:solidFill>
                        <a:srgbClr val="162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162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162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162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B.Tech CSE (2023 to 2027)</a:t>
                      </a:r>
                      <a:endParaRPr lang="en-US" sz="13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799" marR="50799" marT="13716" marB="13716" anchor="ctr">
                    <a:lnL w="38100" cap="flat" cmpd="sng" algn="ctr">
                      <a:solidFill>
                        <a:srgbClr val="162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162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162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162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4CSE11</a:t>
                      </a:r>
                      <a:endParaRPr lang="en-US" sz="13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799" marR="50799" marT="13716" marB="13716" anchor="ctr">
                    <a:lnL w="38100" cap="flat" cmpd="sng" algn="ctr">
                      <a:solidFill>
                        <a:srgbClr val="162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162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162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162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45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kern="0" spc="150" dirty="0">
                          <a:solidFill>
                            <a:srgbClr val="0E9F8C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SEMESTER</a:t>
                      </a:r>
                      <a:endParaRPr lang="en-US" sz="9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799" marR="50799" marT="13716" marB="13716" anchor="ctr">
                    <a:lnL w="38100" cap="flat" cmpd="sng" algn="ctr">
                      <a:solidFill>
                        <a:srgbClr val="162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162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162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162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kern="0" spc="150" dirty="0">
                          <a:solidFill>
                            <a:srgbClr val="0E9F8C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ORGANISATION</a:t>
                      </a:r>
                      <a:endParaRPr lang="en-US" sz="9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799" marR="50799" marT="13716" marB="13716" anchor="ctr">
                    <a:lnL w="38100" cap="flat" cmpd="sng" algn="ctr">
                      <a:solidFill>
                        <a:srgbClr val="162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162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162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162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kern="0" spc="150" dirty="0">
                          <a:solidFill>
                            <a:srgbClr val="0E9F8C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DURATION</a:t>
                      </a:r>
                      <a:endParaRPr lang="en-US" sz="9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799" marR="50799" marT="13716" marB="13716" anchor="ctr">
                    <a:lnL w="38100" cap="flat" cmpd="sng" algn="ctr">
                      <a:solidFill>
                        <a:srgbClr val="162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162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162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162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kern="0" spc="150" dirty="0">
                          <a:solidFill>
                            <a:srgbClr val="0E9F8C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PERIOD</a:t>
                      </a:r>
                      <a:endParaRPr lang="en-US" sz="9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799" marR="50799" marT="13716" marB="13716" anchor="ctr">
                    <a:lnL w="38100" cap="flat" cmpd="sng" algn="ctr">
                      <a:solidFill>
                        <a:srgbClr val="162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162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162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162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2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7th Semester</a:t>
                      </a:r>
                      <a:endParaRPr lang="en-US" sz="13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799" marR="50799" marT="38099" marB="38099" anchor="ctr">
                    <a:lnL w="38100" cap="flat" cmpd="sng" algn="ctr">
                      <a:solidFill>
                        <a:srgbClr val="162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162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162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162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Colourbar Communications</a:t>
                      </a:r>
                      <a:endParaRPr lang="en-US" sz="13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799" marR="50799" marT="38099" marB="38099" anchor="ctr">
                    <a:lnL w="38100" cap="flat" cmpd="sng" algn="ctr">
                      <a:solidFill>
                        <a:srgbClr val="162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162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162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162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Six weeks, remote mode</a:t>
                      </a:r>
                      <a:endParaRPr lang="en-US" sz="13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799" marR="50799" marT="38099" marB="38099" anchor="ctr">
                    <a:lnL w="38100" cap="flat" cmpd="sng" algn="ctr">
                      <a:solidFill>
                        <a:srgbClr val="162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162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162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162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1 June 2026 to 13 July 2026</a:t>
                      </a:r>
                      <a:endParaRPr lang="en-US" sz="13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799" marR="50799" marT="38099" marB="38099" anchor="ctr">
                    <a:lnL w="38100" cap="flat" cmpd="sng" algn="ctr">
                      <a:solidFill>
                        <a:srgbClr val="162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162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162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162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40044" y="854670"/>
            <a:ext cx="11518017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b="1" kern="0" spc="250" dirty="0">
                <a:solidFill>
                  <a:srgbClr val="0E9F8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IILM UNIVERSITY, GREATER NOIDA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44" y="1141214"/>
            <a:ext cx="11518017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00" dirty="0">
                <a:solidFill>
                  <a:srgbClr val="A9B6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School of Computer Science and Engineering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40044" y="1877516"/>
            <a:ext cx="10908432" cy="614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400" b="1" kern="0" spc="48" dirty="0">
                <a:solidFill>
                  <a:srgbClr val="FFFFFF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Potential Client Analysis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640044" y="2535932"/>
            <a:ext cx="10908432" cy="614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400" b="1" kern="0" spc="48" dirty="0">
                <a:solidFill>
                  <a:srgbClr val="FFFFFF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and Automation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640044" y="3349427"/>
            <a:ext cx="10667733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00" dirty="0">
                <a:solidFill>
                  <a:srgbClr val="A9B6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Six-week remote internship  |  Data Science Intern, Artificial Intelligence Department, Colourbar Communications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44" y="441623"/>
            <a:ext cx="11518017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00" b="1" kern="0" spc="200" dirty="0">
                <a:solidFill>
                  <a:srgbClr val="0E9F8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CHAPTER 4.1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44" y="716260"/>
            <a:ext cx="10908432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00" b="1" kern="0" spc="35" dirty="0">
                <a:solidFill>
                  <a:srgbClr val="102A43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Internship Overview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44" y="1600200"/>
            <a:ext cx="2507592" cy="1691580"/>
          </a:xfrm>
          <a:prstGeom prst="roundRect">
            <a:avLst>
              <a:gd name="adj" fmla="val 3892"/>
            </a:avLst>
          </a:prstGeom>
          <a:solidFill>
            <a:srgbClr val="F2F5F7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022" y="1871166"/>
            <a:ext cx="2605122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00" b="1" kern="0" spc="150" dirty="0">
                <a:solidFill>
                  <a:srgbClr val="0E9F8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ORGANISATION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96022" y="2159496"/>
            <a:ext cx="1938388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b="1" kern="0" spc="19" dirty="0">
                <a:solidFill>
                  <a:srgbClr val="16202A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Colourbar Communications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96022" y="2842716"/>
            <a:ext cx="2605122" cy="211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50" dirty="0">
                <a:solidFill>
                  <a:srgbClr val="4450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Delhi 110028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40324" y="1600200"/>
            <a:ext cx="2507592" cy="1691580"/>
          </a:xfrm>
          <a:prstGeom prst="roundRect">
            <a:avLst>
              <a:gd name="adj" fmla="val 3892"/>
            </a:avLst>
          </a:prstGeom>
          <a:solidFill>
            <a:srgbClr val="F2F5F7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96302" y="1871166"/>
            <a:ext cx="2605122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00" b="1" kern="0" spc="150" dirty="0">
                <a:solidFill>
                  <a:srgbClr val="0E9F8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ROLE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96302" y="2288977"/>
            <a:ext cx="1995537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b="1" kern="0" spc="19" dirty="0">
                <a:solidFill>
                  <a:srgbClr val="16202A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Data Science Intern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696302" y="2842716"/>
            <a:ext cx="2605122" cy="211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50" dirty="0">
                <a:solidFill>
                  <a:srgbClr val="4450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Individual contributor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40604" y="1600200"/>
            <a:ext cx="2507592" cy="1691580"/>
          </a:xfrm>
          <a:prstGeom prst="roundRect">
            <a:avLst>
              <a:gd name="adj" fmla="val 3892"/>
            </a:avLst>
          </a:prstGeom>
          <a:solidFill>
            <a:srgbClr val="F2F5F7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6582" y="1871166"/>
            <a:ext cx="2605122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00" b="1" kern="0" spc="150" dirty="0">
                <a:solidFill>
                  <a:srgbClr val="0E9F8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DEPARTMENT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96582" y="2159496"/>
            <a:ext cx="1995537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b="1" kern="0" spc="19" dirty="0">
                <a:solidFill>
                  <a:srgbClr val="16202A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Artificial Intelligence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496582" y="2842716"/>
            <a:ext cx="1995537" cy="423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50" dirty="0">
                <a:solidFill>
                  <a:srgbClr val="4450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Data-driven business initiatives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040884" y="1600200"/>
            <a:ext cx="2507592" cy="1691580"/>
          </a:xfrm>
          <a:prstGeom prst="roundRect">
            <a:avLst>
              <a:gd name="adj" fmla="val 3892"/>
            </a:avLst>
          </a:prstGeom>
          <a:solidFill>
            <a:srgbClr val="F2F5F7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96862" y="1871166"/>
            <a:ext cx="2605122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00" b="1" kern="0" spc="150" dirty="0">
                <a:solidFill>
                  <a:srgbClr val="0E9F8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DURATION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296862" y="2288977"/>
            <a:ext cx="1995537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b="1" kern="0" spc="19" dirty="0">
                <a:solidFill>
                  <a:srgbClr val="16202A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Six weeks, remote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296862" y="2842716"/>
            <a:ext cx="2605122" cy="211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50" dirty="0">
                <a:solidFill>
                  <a:srgbClr val="4450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June to 13 July 2026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44" y="3584377"/>
            <a:ext cx="10908432" cy="1572716"/>
          </a:xfrm>
          <a:prstGeom prst="roundRect">
            <a:avLst>
              <a:gd name="adj" fmla="val 4186"/>
            </a:avLst>
          </a:prstGeom>
          <a:solidFill>
            <a:srgbClr val="16202A"/>
          </a:solidFill>
          <a:ln w="12700">
            <a:solidFill>
              <a:srgbClr val="1620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755" y="3846314"/>
            <a:ext cx="10786594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00" b="1" kern="0" spc="150" dirty="0">
                <a:solidFill>
                  <a:srgbClr val="0E9F8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PROJECT UNDERTAKEN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05755" y="4102596"/>
            <a:ext cx="10177009" cy="307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200" b="1" kern="0" spc="24" dirty="0">
                <a:solidFill>
                  <a:srgbClr val="FFFFFF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Potential Client Analysis and Automation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005755" y="4515346"/>
            <a:ext cx="10729446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00" dirty="0">
                <a:solidFill>
                  <a:srgbClr val="BFCA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six-week remote project focused on client-data analysis, lead scoring and workflow automation for internal stakeholders.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44" y="5359598"/>
            <a:ext cx="11518017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00" i="1" dirty="0">
                <a:solidFill>
                  <a:srgbClr val="7C88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Internship report and completion certificate issued by Colourbar Communications, dated 25 July 2026. 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024613" y="6382246"/>
            <a:ext cx="1523962" cy="165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21000"/>
              </a:lnSpc>
              <a:buNone/>
            </a:pPr>
            <a:r>
              <a:rPr lang="en-US" sz="900" b="1" dirty="0">
                <a:solidFill>
                  <a:srgbClr val="7C889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40044" y="6436618"/>
            <a:ext cx="2740155" cy="1656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7C889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Sahil Gautam  |  CS-23411430  |  IILM University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44" y="441623"/>
            <a:ext cx="11518017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00" b="1" kern="0" spc="200" dirty="0">
                <a:solidFill>
                  <a:srgbClr val="0E9F8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CHAPTER 4.3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44" y="716260"/>
            <a:ext cx="10908432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00" b="1" kern="0" spc="35" dirty="0">
                <a:solidFill>
                  <a:srgbClr val="102A43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44" y="1600200"/>
            <a:ext cx="5577641" cy="3063180"/>
          </a:xfrm>
          <a:prstGeom prst="roundRect">
            <a:avLst>
              <a:gd name="adj" fmla="val 2149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755" y="1917700"/>
            <a:ext cx="5455704" cy="193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50" b="1" kern="0" spc="160" dirty="0">
                <a:solidFill>
                  <a:srgbClr val="0E9F8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EXISTING SITUATION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005755" y="2278757"/>
            <a:ext cx="4804845" cy="2414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3408" indent="-343408" algn="l">
              <a:lnSpc>
                <a:spcPct val="128000"/>
              </a:lnSpc>
              <a:buSzPct val="100000"/>
              <a:buChar char="•"/>
            </a:pPr>
            <a:r>
              <a:rPr lang="en-US" sz="1300" dirty="0">
                <a:solidFill>
                  <a:srgbClr val="4450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Prospective clients were evaluated manually, one record at a time.</a:t>
            </a:r>
            <a:endParaRPr lang="en-US" sz="1300" dirty="0"/>
          </a:p>
          <a:p>
            <a:pPr marL="343408" indent="-343408" algn="l">
              <a:lnSpc>
                <a:spcPct val="128000"/>
              </a:lnSpc>
              <a:buSzPct val="100000"/>
              <a:buChar char="•"/>
            </a:pPr>
            <a:r>
              <a:rPr lang="en-US" sz="1300" dirty="0">
                <a:solidFill>
                  <a:srgbClr val="4450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evaluation is slow and consumes analyst time that could be spent on client engagement.</a:t>
            </a:r>
            <a:endParaRPr lang="en-US" sz="1300" dirty="0"/>
          </a:p>
          <a:p>
            <a:pPr marL="343408" indent="-343408" algn="l">
              <a:lnSpc>
                <a:spcPct val="128000"/>
              </a:lnSpc>
              <a:buSzPct val="100000"/>
              <a:buChar char="•"/>
            </a:pPr>
            <a:r>
              <a:rPr lang="en-US" sz="1300" dirty="0">
                <a:solidFill>
                  <a:srgbClr val="4450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approach does not scale as the volume of prospective client data grows.</a:t>
            </a:r>
            <a:endParaRPr lang="en-US" sz="1300" dirty="0"/>
          </a:p>
          <a:p>
            <a:pPr marL="343408" indent="-343408" algn="l">
              <a:lnSpc>
                <a:spcPct val="128000"/>
              </a:lnSpc>
              <a:buSzPct val="100000"/>
              <a:buChar char="•"/>
            </a:pPr>
            <a:r>
              <a:rPr lang="en-US" sz="1300" dirty="0">
                <a:solidFill>
                  <a:srgbClr val="4450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Judgement varies between reviewers, so lead quality is difficult to compare.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83495" y="1600200"/>
            <a:ext cx="4964980" cy="3063180"/>
          </a:xfrm>
          <a:prstGeom prst="roundRect">
            <a:avLst>
              <a:gd name="adj" fmla="val 2149"/>
            </a:avLst>
          </a:prstGeom>
          <a:solidFill>
            <a:srgbClr val="16202A"/>
          </a:solidFill>
          <a:ln w="12700">
            <a:solidFill>
              <a:srgbClr val="1620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207" y="1917700"/>
            <a:ext cx="4843143" cy="193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50" b="1" kern="0" spc="160" dirty="0">
                <a:solidFill>
                  <a:srgbClr val="0E9F8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PROBLEM ADDRESSED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949207" y="2304256"/>
            <a:ext cx="4176410" cy="1651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700" kern="0" spc="19" dirty="0">
                <a:solidFill>
                  <a:srgbClr val="FFFFFF"/>
                </a:solidFill>
                <a:latin typeface="Caladea" pitchFamily="34" charset="0"/>
                <a:ea typeface="Caladea" pitchFamily="34" charset="-122"/>
                <a:cs typeface="Caladea" pitchFamily="34" charset="-120"/>
              </a:rPr>
              <a:t>How can an organisation identify high-value potential clients reliably, and streamline the decision-making around them, without adding manual effort as the data grows?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949207" y="3936206"/>
            <a:ext cx="4176410" cy="460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50" dirty="0">
                <a:solidFill>
                  <a:srgbClr val="9FB0B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project answers this with a repeatable, data-driven scoring pipeline.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0044" y="4954984"/>
            <a:ext cx="10908432" cy="423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50" dirty="0">
                <a:solidFill>
                  <a:srgbClr val="4865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intended value was more efficient identification of high-value clients, less manual processing and better-informed decisions; the report states no quantitative performance metrics.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0024613" y="6382246"/>
            <a:ext cx="1523962" cy="165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21000"/>
              </a:lnSpc>
              <a:buNone/>
            </a:pPr>
            <a:r>
              <a:rPr lang="en-US" sz="900" b="1" dirty="0">
                <a:solidFill>
                  <a:srgbClr val="7C889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44" y="6436618"/>
            <a:ext cx="2740155" cy="1656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7C889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Sahil Gautam  |  CS-23411430  |  IILM University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44" y="441623"/>
            <a:ext cx="11518017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00" b="1" kern="0" spc="200" dirty="0">
                <a:solidFill>
                  <a:srgbClr val="0E9F8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CHAPTER 4.4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44" y="716260"/>
            <a:ext cx="10908432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00" b="1" kern="0" spc="35" dirty="0">
                <a:solidFill>
                  <a:srgbClr val="102A43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Project Objectives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44" y="1609328"/>
            <a:ext cx="383967" cy="383977"/>
          </a:xfrm>
          <a:prstGeom prst="roundRect">
            <a:avLst>
              <a:gd name="adj" fmla="val 50000"/>
            </a:avLst>
          </a:prstGeom>
          <a:solidFill>
            <a:srgbClr val="0E9F8C"/>
          </a:solidFill>
          <a:ln w="12700">
            <a:solidFill>
              <a:srgbClr val="0E9F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35252" y="1688306"/>
            <a:ext cx="993552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1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61832" y="1586210"/>
            <a:ext cx="3352716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b="1" dirty="0">
                <a:solidFill>
                  <a:srgbClr val="16202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Build client profiles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068958" y="1672034"/>
            <a:ext cx="7422369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50" dirty="0">
                <a:solidFill>
                  <a:srgbClr val="4865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Extract, clean and pre-process client-related data from diverse internal repositories to form comprehensive client profiles.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44" y="2334419"/>
            <a:ext cx="10908432" cy="12700"/>
          </a:xfrm>
          <a:prstGeom prst="rect">
            <a:avLst/>
          </a:prstGeom>
          <a:solidFill>
            <a:srgbClr val="DCE3E8"/>
          </a:solidFill>
          <a:ln/>
        </p:spPr>
      </p:sp>
      <p:sp>
        <p:nvSpPr>
          <p:cNvPr id="9" name="Shape 7"/>
          <p:cNvSpPr/>
          <p:nvPr/>
        </p:nvSpPr>
        <p:spPr>
          <a:xfrm>
            <a:off x="640044" y="2541984"/>
            <a:ext cx="383967" cy="383977"/>
          </a:xfrm>
          <a:prstGeom prst="roundRect">
            <a:avLst>
              <a:gd name="adj" fmla="val 50000"/>
            </a:avLst>
          </a:prstGeom>
          <a:solidFill>
            <a:srgbClr val="0E9F8C"/>
          </a:solidFill>
          <a:ln w="12700">
            <a:solidFill>
              <a:srgbClr val="0E9F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5252" y="2620963"/>
            <a:ext cx="993552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1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61832" y="2518866"/>
            <a:ext cx="3352716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b="1" dirty="0">
                <a:solidFill>
                  <a:srgbClr val="16202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Analyse the data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068958" y="2604691"/>
            <a:ext cx="7422369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50" dirty="0">
                <a:solidFill>
                  <a:srgbClr val="4865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Conduct exploratory data analysis to uncover market trends, behavioural patterns and the key drivers of client acquisition.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44" y="3267174"/>
            <a:ext cx="10908432" cy="12700"/>
          </a:xfrm>
          <a:prstGeom prst="rect">
            <a:avLst/>
          </a:prstGeom>
          <a:solidFill>
            <a:srgbClr val="DCE3E8"/>
          </a:solidFill>
          <a:ln/>
        </p:spPr>
      </p:sp>
      <p:sp>
        <p:nvSpPr>
          <p:cNvPr id="14" name="Shape 12"/>
          <p:cNvSpPr/>
          <p:nvPr/>
        </p:nvSpPr>
        <p:spPr>
          <a:xfrm>
            <a:off x="640044" y="3474641"/>
            <a:ext cx="383967" cy="383977"/>
          </a:xfrm>
          <a:prstGeom prst="roundRect">
            <a:avLst>
              <a:gd name="adj" fmla="val 50000"/>
            </a:avLst>
          </a:prstGeom>
          <a:solidFill>
            <a:srgbClr val="0E9F8C"/>
          </a:solidFill>
          <a:ln w="12700">
            <a:solidFill>
              <a:srgbClr val="0E9F8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5252" y="3553619"/>
            <a:ext cx="993552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1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61832" y="3451523"/>
            <a:ext cx="3352716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b="1" dirty="0">
                <a:solidFill>
                  <a:srgbClr val="16202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Score and segment leads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068958" y="3537446"/>
            <a:ext cx="8031954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50" dirty="0">
                <a:solidFill>
                  <a:srgbClr val="4865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 and apply machine-learning methods to score, rank and segment potential client leads.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44" y="4199830"/>
            <a:ext cx="10908432" cy="12700"/>
          </a:xfrm>
          <a:prstGeom prst="rect">
            <a:avLst/>
          </a:prstGeom>
          <a:solidFill>
            <a:srgbClr val="DCE3E8"/>
          </a:solidFill>
          <a:ln/>
        </p:spPr>
      </p:sp>
      <p:sp>
        <p:nvSpPr>
          <p:cNvPr id="19" name="Shape 17"/>
          <p:cNvSpPr/>
          <p:nvPr/>
        </p:nvSpPr>
        <p:spPr>
          <a:xfrm>
            <a:off x="640044" y="4407396"/>
            <a:ext cx="383967" cy="383977"/>
          </a:xfrm>
          <a:prstGeom prst="roundRect">
            <a:avLst>
              <a:gd name="adj" fmla="val 50000"/>
            </a:avLst>
          </a:prstGeom>
          <a:solidFill>
            <a:srgbClr val="0E9F8C"/>
          </a:solidFill>
          <a:ln w="12700">
            <a:solidFill>
              <a:srgbClr val="0E9F8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5252" y="4486374"/>
            <a:ext cx="993552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1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261832" y="4384278"/>
            <a:ext cx="3352716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b="1" dirty="0">
                <a:solidFill>
                  <a:srgbClr val="16202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Automate the workflow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068958" y="4470102"/>
            <a:ext cx="7422369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50" dirty="0">
                <a:solidFill>
                  <a:srgbClr val="4865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 the client scoring workflow through Python scripting and data pipelines so manual processing effort is reduced.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0044" y="5132487"/>
            <a:ext cx="10908432" cy="12700"/>
          </a:xfrm>
          <a:prstGeom prst="rect">
            <a:avLst/>
          </a:prstGeom>
          <a:solidFill>
            <a:srgbClr val="DCE3E8"/>
          </a:solidFill>
          <a:ln/>
        </p:spPr>
      </p:sp>
      <p:sp>
        <p:nvSpPr>
          <p:cNvPr id="24" name="Shape 22"/>
          <p:cNvSpPr/>
          <p:nvPr/>
        </p:nvSpPr>
        <p:spPr>
          <a:xfrm>
            <a:off x="640044" y="5340052"/>
            <a:ext cx="383967" cy="383977"/>
          </a:xfrm>
          <a:prstGeom prst="roundRect">
            <a:avLst>
              <a:gd name="adj" fmla="val 50000"/>
            </a:avLst>
          </a:prstGeom>
          <a:solidFill>
            <a:srgbClr val="0E9F8C"/>
          </a:solidFill>
          <a:ln w="12700">
            <a:solidFill>
              <a:srgbClr val="0E9F8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5252" y="5419030"/>
            <a:ext cx="993552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1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261832" y="5316934"/>
            <a:ext cx="3352716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b="1" dirty="0">
                <a:solidFill>
                  <a:srgbClr val="16202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Communicate the insight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068958" y="5510709"/>
            <a:ext cx="7479518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50" dirty="0">
                <a:solidFill>
                  <a:srgbClr val="4865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interactive dashboards that communicate analytical findings to cross-functional stakeholders.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0024613" y="6382246"/>
            <a:ext cx="1523962" cy="165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21000"/>
              </a:lnSpc>
              <a:buNone/>
            </a:pPr>
            <a:r>
              <a:rPr lang="en-US" sz="900" b="1" dirty="0">
                <a:solidFill>
                  <a:srgbClr val="7C889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6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40044" y="6436618"/>
            <a:ext cx="2740155" cy="1656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7C889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Sahil Gautam  |  CS-23411430  |  IILM University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44" y="441623"/>
            <a:ext cx="11518017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00" b="1" kern="0" spc="200" dirty="0">
                <a:solidFill>
                  <a:srgbClr val="0E9F8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CHAPTER 4.6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44" y="716260"/>
            <a:ext cx="10908432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00" b="1" kern="0" spc="35" dirty="0">
                <a:solidFill>
                  <a:srgbClr val="102A43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Technologies and Tools Used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44" y="1572716"/>
            <a:ext cx="3428914" cy="1783060"/>
          </a:xfrm>
          <a:prstGeom prst="roundRect">
            <a:avLst>
              <a:gd name="adj" fmla="val 3692"/>
            </a:avLst>
          </a:prstGeom>
          <a:solidFill>
            <a:srgbClr val="F2F5F7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377" y="1856680"/>
            <a:ext cx="3489833" cy="174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50" b="1" kern="0" spc="140" dirty="0">
                <a:solidFill>
                  <a:srgbClr val="0E9F8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PROGRAMMING LANGUAGE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914377" y="2130524"/>
            <a:ext cx="2880248" cy="251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800" b="1" kern="0" spc="20" dirty="0">
                <a:solidFill>
                  <a:srgbClr val="16202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Python 3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377" y="2613124"/>
            <a:ext cx="2823100" cy="4060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150" dirty="0">
                <a:solidFill>
                  <a:srgbClr val="4450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Scripting, data handling and workflow automation across the project.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79803" y="1572716"/>
            <a:ext cx="3428914" cy="1783060"/>
          </a:xfrm>
          <a:prstGeom prst="roundRect">
            <a:avLst>
              <a:gd name="adj" fmla="val 3692"/>
            </a:avLst>
          </a:prstGeom>
          <a:solidFill>
            <a:srgbClr val="F2F5F7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54136" y="1856680"/>
            <a:ext cx="3489833" cy="174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50" b="1" kern="0" spc="140" dirty="0">
                <a:solidFill>
                  <a:srgbClr val="0E9F8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HANDLING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654136" y="2130524"/>
            <a:ext cx="2880248" cy="251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800" b="1" kern="0" spc="20" dirty="0">
                <a:solidFill>
                  <a:srgbClr val="16202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Data preparation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54136" y="2613124"/>
            <a:ext cx="2823100" cy="4060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150" dirty="0">
                <a:solidFill>
                  <a:srgbClr val="4450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Cleaning, transformation and preparation of client data for analysis.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19661" y="1572716"/>
            <a:ext cx="3428914" cy="1783060"/>
          </a:xfrm>
          <a:prstGeom prst="roundRect">
            <a:avLst>
              <a:gd name="adj" fmla="val 3692"/>
            </a:avLst>
          </a:prstGeom>
          <a:solidFill>
            <a:srgbClr val="F2F5F7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93895" y="1856680"/>
            <a:ext cx="3489833" cy="174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50" b="1" kern="0" spc="140" dirty="0">
                <a:solidFill>
                  <a:srgbClr val="0E9F8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STATISTICS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393895" y="2130524"/>
            <a:ext cx="2880248" cy="251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800" b="1" kern="0" spc="20" dirty="0">
                <a:solidFill>
                  <a:srgbClr val="16202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Exploratory analysis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393895" y="2613124"/>
            <a:ext cx="2823100" cy="4060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150" dirty="0">
                <a:solidFill>
                  <a:srgbClr val="4450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EDA to examine trends, behavioural patterns and drivers of client acquisition.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44" y="3666728"/>
            <a:ext cx="3428914" cy="1783060"/>
          </a:xfrm>
          <a:prstGeom prst="roundRect">
            <a:avLst>
              <a:gd name="adj" fmla="val 3692"/>
            </a:avLst>
          </a:prstGeom>
          <a:solidFill>
            <a:srgbClr val="F2F5F7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377" y="3950692"/>
            <a:ext cx="3489833" cy="174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50" b="1" kern="0" spc="140" dirty="0">
                <a:solidFill>
                  <a:srgbClr val="0E9F8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PRE-PROCESSING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14377" y="4224437"/>
            <a:ext cx="2880248" cy="251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800" b="1" kern="0" spc="20" dirty="0">
                <a:solidFill>
                  <a:srgbClr val="16202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Machine learning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14377" y="4707037"/>
            <a:ext cx="2823100" cy="4060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150" dirty="0">
                <a:solidFill>
                  <a:srgbClr val="4450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Algorithms for lead scoring, ranking and segmentation.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379803" y="3666728"/>
            <a:ext cx="3428914" cy="1783060"/>
          </a:xfrm>
          <a:prstGeom prst="roundRect">
            <a:avLst>
              <a:gd name="adj" fmla="val 3692"/>
            </a:avLst>
          </a:prstGeom>
          <a:solidFill>
            <a:srgbClr val="F2F5F7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54136" y="3950692"/>
            <a:ext cx="3489833" cy="174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50" b="1" kern="0" spc="140" dirty="0">
                <a:solidFill>
                  <a:srgbClr val="0E9F8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MODELLING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654136" y="4224437"/>
            <a:ext cx="2880248" cy="251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800" b="1" kern="0" spc="20" dirty="0">
                <a:solidFill>
                  <a:srgbClr val="16202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Machine learning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654136" y="4707037"/>
            <a:ext cx="2823100" cy="609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150" dirty="0">
                <a:solidFill>
                  <a:srgbClr val="4450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Model-based methods used to support client scoring, ranking and segmentation.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119661" y="3666728"/>
            <a:ext cx="3428914" cy="1783060"/>
          </a:xfrm>
          <a:prstGeom prst="roundRect">
            <a:avLst>
              <a:gd name="adj" fmla="val 3692"/>
            </a:avLst>
          </a:prstGeom>
          <a:solidFill>
            <a:srgbClr val="F2F5F7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93895" y="3950692"/>
            <a:ext cx="3489833" cy="174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50" b="1" kern="0" spc="140" dirty="0">
                <a:solidFill>
                  <a:srgbClr val="0E9F8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VISUALISATION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8393895" y="4224437"/>
            <a:ext cx="2880248" cy="502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800" b="1" kern="0" spc="20" dirty="0">
                <a:solidFill>
                  <a:srgbClr val="16202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Automation and dashboards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393895" y="4707037"/>
            <a:ext cx="2823100" cy="609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150" dirty="0">
                <a:solidFill>
                  <a:srgbClr val="4450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scripts, automated data pipelines and interactive dashboards for internal stakeholders.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40044" y="5620941"/>
            <a:ext cx="11518017" cy="193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50" i="1" dirty="0">
                <a:solidFill>
                  <a:srgbClr val="7C88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Technologies documented in the report: Python, EDA, machine-learning algorithms, automated data pipelines and interactive dashboards. 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0024613" y="6382246"/>
            <a:ext cx="1523962" cy="165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21000"/>
              </a:lnSpc>
              <a:buNone/>
            </a:pPr>
            <a:r>
              <a:rPr lang="en-US" sz="900" b="1" dirty="0">
                <a:solidFill>
                  <a:srgbClr val="7C889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8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40044" y="6436618"/>
            <a:ext cx="2740155" cy="1656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7C889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Sahil Gautam  |  CS-23411430  |  IILM University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44" y="441623"/>
            <a:ext cx="11518017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00" b="1" kern="0" spc="200" dirty="0">
                <a:solidFill>
                  <a:srgbClr val="0E9F8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CHAPTER 4.7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44" y="716260"/>
            <a:ext cx="10908432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00" b="1" kern="0" spc="35" dirty="0">
                <a:solidFill>
                  <a:srgbClr val="102A43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44" y="1278632"/>
            <a:ext cx="10058148" cy="4786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00" dirty="0">
                <a:solidFill>
                  <a:srgbClr val="4865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workflow moves client data from internal repositories through preparation, analysis, machine-learning scoring and automation into dashboard-based stakeholder consumption.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44" y="1920180"/>
            <a:ext cx="2521383" cy="1572716"/>
          </a:xfrm>
          <a:prstGeom prst="roundRect">
            <a:avLst>
              <a:gd name="adj" fmla="val 4186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022" y="2160687"/>
            <a:ext cx="2618913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00" b="1" dirty="0">
                <a:solidFill>
                  <a:srgbClr val="0E9F8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96022" y="2547342"/>
            <a:ext cx="2009328" cy="570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50" b="1" kern="0" spc="17" dirty="0">
                <a:solidFill>
                  <a:srgbClr val="16202A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Internal repositories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96022" y="2945110"/>
            <a:ext cx="1952179" cy="354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050" dirty="0">
                <a:solidFill>
                  <a:srgbClr val="4450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 data collected from diverse internal sources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7166" y="2615109"/>
            <a:ext cx="182856" cy="182860"/>
          </a:xfrm>
          <a:custGeom>
            <a:avLst/>
            <a:gdLst/>
            <a:ahLst/>
            <a:cxnLst/>
            <a:rect l="l" t="t" r="r" b="b"/>
            <a:pathLst>
              <a:path w="182856" h="182860">
                <a:moveTo>
                  <a:pt x="0" y="0"/>
                </a:moveTo>
                <a:lnTo>
                  <a:pt x="91428" y="0"/>
                </a:lnTo>
                <a:lnTo>
                  <a:pt x="182856" y="91430"/>
                </a:lnTo>
                <a:lnTo>
                  <a:pt x="91428" y="182860"/>
                </a:lnTo>
                <a:lnTo>
                  <a:pt x="0" y="182860"/>
                </a:lnTo>
                <a:lnTo>
                  <a:pt x="91428" y="91430"/>
                </a:lnTo>
                <a:close/>
              </a:path>
            </a:pathLst>
          </a:custGeom>
          <a:solidFill>
            <a:srgbClr val="0E9F8C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8116" y="2596059"/>
            <a:ext cx="220955" cy="2209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3435760" y="1920180"/>
            <a:ext cx="2521383" cy="1572716"/>
          </a:xfrm>
          <a:prstGeom prst="roundRect">
            <a:avLst>
              <a:gd name="adj" fmla="val 4186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691738" y="2160687"/>
            <a:ext cx="2618913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00" b="1" dirty="0">
                <a:solidFill>
                  <a:srgbClr val="0E9F8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691738" y="2429173"/>
            <a:ext cx="1952179" cy="472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50" b="1" kern="0" spc="17" dirty="0">
                <a:solidFill>
                  <a:srgbClr val="16202A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Cleaning and pre-processing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3691738" y="2945110"/>
            <a:ext cx="1952179" cy="354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050" dirty="0">
                <a:solidFill>
                  <a:srgbClr val="4450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Prepare data for reliable analysis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002882" y="2615109"/>
            <a:ext cx="182856" cy="182860"/>
          </a:xfrm>
          <a:custGeom>
            <a:avLst/>
            <a:gdLst/>
            <a:ahLst/>
            <a:cxnLst/>
            <a:rect l="l" t="t" r="r" b="b"/>
            <a:pathLst>
              <a:path w="182856" h="182860">
                <a:moveTo>
                  <a:pt x="0" y="0"/>
                </a:moveTo>
                <a:lnTo>
                  <a:pt x="91428" y="0"/>
                </a:lnTo>
                <a:lnTo>
                  <a:pt x="182856" y="91430"/>
                </a:lnTo>
                <a:lnTo>
                  <a:pt x="91428" y="182860"/>
                </a:lnTo>
                <a:lnTo>
                  <a:pt x="0" y="182860"/>
                </a:lnTo>
                <a:lnTo>
                  <a:pt x="91428" y="91430"/>
                </a:lnTo>
                <a:close/>
              </a:path>
            </a:pathLst>
          </a:custGeom>
          <a:solidFill>
            <a:srgbClr val="0E9F8C"/>
          </a:solidFill>
          <a:ln/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3832" y="2596059"/>
            <a:ext cx="220955" cy="22096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6231476" y="1920180"/>
            <a:ext cx="2521383" cy="1572716"/>
          </a:xfrm>
          <a:prstGeom prst="roundRect">
            <a:avLst>
              <a:gd name="adj" fmla="val 4186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487454" y="2160687"/>
            <a:ext cx="2618913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00" b="1" dirty="0">
                <a:solidFill>
                  <a:srgbClr val="0E9F8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6487454" y="2429173"/>
            <a:ext cx="1952179" cy="472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50" b="1" kern="0" spc="17" dirty="0">
                <a:solidFill>
                  <a:srgbClr val="16202A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Exploratory analysis</a:t>
            </a:r>
            <a:endParaRPr lang="en-US" sz="1550" dirty="0"/>
          </a:p>
        </p:txBody>
      </p:sp>
      <p:sp>
        <p:nvSpPr>
          <p:cNvPr id="20" name="Text 16"/>
          <p:cNvSpPr/>
          <p:nvPr/>
        </p:nvSpPr>
        <p:spPr>
          <a:xfrm>
            <a:off x="6487454" y="2945110"/>
            <a:ext cx="1952179" cy="354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050" dirty="0">
                <a:solidFill>
                  <a:srgbClr val="4450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Surface trends, behaviours and acquisition drivers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8798499" y="2615109"/>
            <a:ext cx="182856" cy="182860"/>
          </a:xfrm>
          <a:custGeom>
            <a:avLst/>
            <a:gdLst/>
            <a:ahLst/>
            <a:cxnLst/>
            <a:rect l="l" t="t" r="r" b="b"/>
            <a:pathLst>
              <a:path w="182856" h="182860">
                <a:moveTo>
                  <a:pt x="0" y="0"/>
                </a:moveTo>
                <a:lnTo>
                  <a:pt x="91428" y="0"/>
                </a:lnTo>
                <a:lnTo>
                  <a:pt x="182856" y="91430"/>
                </a:lnTo>
                <a:lnTo>
                  <a:pt x="91428" y="182860"/>
                </a:lnTo>
                <a:lnTo>
                  <a:pt x="0" y="182860"/>
                </a:lnTo>
                <a:lnTo>
                  <a:pt x="91428" y="91430"/>
                </a:lnTo>
                <a:close/>
              </a:path>
            </a:pathLst>
          </a:custGeom>
          <a:solidFill>
            <a:srgbClr val="0E9F8C"/>
          </a:solidFill>
          <a:ln/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9449" y="2596059"/>
            <a:ext cx="220955" cy="220960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9027093" y="1920180"/>
            <a:ext cx="2521383" cy="1572716"/>
          </a:xfrm>
          <a:prstGeom prst="roundRect">
            <a:avLst>
              <a:gd name="adj" fmla="val 4186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9283170" y="2160687"/>
            <a:ext cx="2618913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00" b="1" dirty="0">
                <a:solidFill>
                  <a:srgbClr val="0E9F8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04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9283170" y="2547342"/>
            <a:ext cx="2009328" cy="570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50" b="1" kern="0" spc="17" dirty="0">
                <a:solidFill>
                  <a:srgbClr val="16202A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ML scoring and segmentation</a:t>
            </a:r>
            <a:endParaRPr lang="en-US" sz="1550" dirty="0"/>
          </a:p>
        </p:txBody>
      </p:sp>
      <p:sp>
        <p:nvSpPr>
          <p:cNvPr id="26" name="Text 21"/>
          <p:cNvSpPr/>
          <p:nvPr/>
        </p:nvSpPr>
        <p:spPr>
          <a:xfrm>
            <a:off x="9283170" y="2945110"/>
            <a:ext cx="1952179" cy="354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050" dirty="0">
                <a:solidFill>
                  <a:srgbClr val="4450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Score, rank and segment potential leads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640044" y="3995837"/>
            <a:ext cx="2521383" cy="1572716"/>
          </a:xfrm>
          <a:prstGeom prst="roundRect">
            <a:avLst>
              <a:gd name="adj" fmla="val 4186"/>
            </a:avLst>
          </a:prstGeom>
          <a:solidFill>
            <a:srgbClr val="16202A"/>
          </a:solidFill>
          <a:ln w="12700">
            <a:solidFill>
              <a:srgbClr val="16202A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896022" y="4236442"/>
            <a:ext cx="2618913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00" b="1" dirty="0">
                <a:solidFill>
                  <a:srgbClr val="0E9F8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05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896022" y="4622998"/>
            <a:ext cx="2618913" cy="285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50" b="1" kern="0" spc="17" dirty="0">
                <a:solidFill>
                  <a:srgbClr val="FFFFFF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Automated pipeline</a:t>
            </a:r>
            <a:endParaRPr lang="en-US" sz="1550" dirty="0"/>
          </a:p>
        </p:txBody>
      </p:sp>
      <p:sp>
        <p:nvSpPr>
          <p:cNvPr id="30" name="Text 25"/>
          <p:cNvSpPr/>
          <p:nvPr/>
        </p:nvSpPr>
        <p:spPr>
          <a:xfrm>
            <a:off x="896022" y="5020766"/>
            <a:ext cx="1952179" cy="354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050" dirty="0">
                <a:solidFill>
                  <a:srgbClr val="A9B6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 scoring through Python and data pipelines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3207166" y="4690864"/>
            <a:ext cx="182856" cy="182860"/>
          </a:xfrm>
          <a:custGeom>
            <a:avLst/>
            <a:gdLst/>
            <a:ahLst/>
            <a:cxnLst/>
            <a:rect l="l" t="t" r="r" b="b"/>
            <a:pathLst>
              <a:path w="182856" h="182860">
                <a:moveTo>
                  <a:pt x="0" y="0"/>
                </a:moveTo>
                <a:lnTo>
                  <a:pt x="91428" y="0"/>
                </a:lnTo>
                <a:lnTo>
                  <a:pt x="182856" y="91430"/>
                </a:lnTo>
                <a:lnTo>
                  <a:pt x="91428" y="182860"/>
                </a:lnTo>
                <a:lnTo>
                  <a:pt x="0" y="182860"/>
                </a:lnTo>
                <a:lnTo>
                  <a:pt x="91428" y="91430"/>
                </a:lnTo>
                <a:close/>
              </a:path>
            </a:pathLst>
          </a:custGeom>
          <a:solidFill>
            <a:srgbClr val="0E9F8C"/>
          </a:solidFill>
          <a:ln/>
        </p:spPr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8116" y="4671814"/>
            <a:ext cx="220955" cy="220960"/>
          </a:xfrm>
          <a:prstGeom prst="rect">
            <a:avLst/>
          </a:prstGeom>
        </p:spPr>
      </p:pic>
      <p:sp>
        <p:nvSpPr>
          <p:cNvPr id="33" name="Shape 27"/>
          <p:cNvSpPr/>
          <p:nvPr/>
        </p:nvSpPr>
        <p:spPr>
          <a:xfrm>
            <a:off x="3435760" y="3995837"/>
            <a:ext cx="2521383" cy="1572716"/>
          </a:xfrm>
          <a:prstGeom prst="roundRect">
            <a:avLst>
              <a:gd name="adj" fmla="val 4186"/>
            </a:avLst>
          </a:prstGeom>
          <a:solidFill>
            <a:srgbClr val="16202A"/>
          </a:solidFill>
          <a:ln w="12700">
            <a:solidFill>
              <a:srgbClr val="16202A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3691738" y="4236442"/>
            <a:ext cx="2618913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00" b="1" dirty="0">
                <a:solidFill>
                  <a:srgbClr val="0E9F8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06</a:t>
            </a:r>
            <a:endParaRPr lang="en-US" sz="1100" dirty="0"/>
          </a:p>
        </p:txBody>
      </p:sp>
      <p:sp>
        <p:nvSpPr>
          <p:cNvPr id="35" name="Text 29"/>
          <p:cNvSpPr/>
          <p:nvPr/>
        </p:nvSpPr>
        <p:spPr>
          <a:xfrm>
            <a:off x="3691738" y="4622998"/>
            <a:ext cx="2618913" cy="285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50" b="1" kern="0" spc="17" dirty="0">
                <a:solidFill>
                  <a:srgbClr val="FFFFFF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Dashboard output</a:t>
            </a:r>
            <a:endParaRPr lang="en-US" sz="1550" dirty="0"/>
          </a:p>
        </p:txBody>
      </p:sp>
      <p:sp>
        <p:nvSpPr>
          <p:cNvPr id="36" name="Text 30"/>
          <p:cNvSpPr/>
          <p:nvPr/>
        </p:nvSpPr>
        <p:spPr>
          <a:xfrm>
            <a:off x="3691738" y="5109369"/>
            <a:ext cx="2009328" cy="354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050" dirty="0">
                <a:solidFill>
                  <a:srgbClr val="A9B6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 outputs for stakeholder consumption</a:t>
            </a:r>
            <a:endParaRPr lang="en-US" sz="1050" dirty="0"/>
          </a:p>
        </p:txBody>
      </p:sp>
      <p:sp>
        <p:nvSpPr>
          <p:cNvPr id="37" name="Shape 31"/>
          <p:cNvSpPr/>
          <p:nvPr/>
        </p:nvSpPr>
        <p:spPr>
          <a:xfrm>
            <a:off x="6002882" y="4690864"/>
            <a:ext cx="182856" cy="182860"/>
          </a:xfrm>
          <a:custGeom>
            <a:avLst/>
            <a:gdLst/>
            <a:ahLst/>
            <a:cxnLst/>
            <a:rect l="l" t="t" r="r" b="b"/>
            <a:pathLst>
              <a:path w="182856" h="182860">
                <a:moveTo>
                  <a:pt x="0" y="0"/>
                </a:moveTo>
                <a:lnTo>
                  <a:pt x="91428" y="0"/>
                </a:lnTo>
                <a:lnTo>
                  <a:pt x="182856" y="91430"/>
                </a:lnTo>
                <a:lnTo>
                  <a:pt x="91428" y="182860"/>
                </a:lnTo>
                <a:lnTo>
                  <a:pt x="0" y="182860"/>
                </a:lnTo>
                <a:lnTo>
                  <a:pt x="91428" y="91430"/>
                </a:lnTo>
                <a:close/>
              </a:path>
            </a:pathLst>
          </a:custGeom>
          <a:solidFill>
            <a:srgbClr val="0E9F8C"/>
          </a:solidFill>
          <a:ln/>
        </p:spPr>
      </p:sp>
      <p:pic>
        <p:nvPicPr>
          <p:cNvPr id="38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3832" y="4671814"/>
            <a:ext cx="220955" cy="220960"/>
          </a:xfrm>
          <a:prstGeom prst="rect">
            <a:avLst/>
          </a:prstGeom>
        </p:spPr>
      </p:pic>
      <p:sp>
        <p:nvSpPr>
          <p:cNvPr id="39" name="Shape 32"/>
          <p:cNvSpPr/>
          <p:nvPr/>
        </p:nvSpPr>
        <p:spPr>
          <a:xfrm>
            <a:off x="6231476" y="3995837"/>
            <a:ext cx="2521383" cy="1572716"/>
          </a:xfrm>
          <a:prstGeom prst="roundRect">
            <a:avLst>
              <a:gd name="adj" fmla="val 4186"/>
            </a:avLst>
          </a:prstGeom>
          <a:solidFill>
            <a:srgbClr val="16202A"/>
          </a:solidFill>
          <a:ln w="12700">
            <a:solidFill>
              <a:srgbClr val="16202A"/>
            </a:solidFill>
            <a:prstDash val="solid"/>
          </a:ln>
        </p:spPr>
      </p:sp>
      <p:sp>
        <p:nvSpPr>
          <p:cNvPr id="40" name="Text 33"/>
          <p:cNvSpPr/>
          <p:nvPr/>
        </p:nvSpPr>
        <p:spPr>
          <a:xfrm>
            <a:off x="6487454" y="4236442"/>
            <a:ext cx="2618913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00" b="1" dirty="0">
                <a:solidFill>
                  <a:srgbClr val="0E9F8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07</a:t>
            </a:r>
            <a:endParaRPr lang="en-US" sz="1100" dirty="0"/>
          </a:p>
        </p:txBody>
      </p:sp>
      <p:sp>
        <p:nvSpPr>
          <p:cNvPr id="41" name="Text 34"/>
          <p:cNvSpPr/>
          <p:nvPr/>
        </p:nvSpPr>
        <p:spPr>
          <a:xfrm>
            <a:off x="6487454" y="4504928"/>
            <a:ext cx="2618913" cy="285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50" b="1" kern="0" spc="17" dirty="0">
                <a:solidFill>
                  <a:srgbClr val="FFFFFF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Stakeholder review</a:t>
            </a:r>
            <a:endParaRPr lang="en-US" sz="1550" dirty="0"/>
          </a:p>
        </p:txBody>
      </p:sp>
      <p:sp>
        <p:nvSpPr>
          <p:cNvPr id="42" name="Text 35"/>
          <p:cNvSpPr/>
          <p:nvPr/>
        </p:nvSpPr>
        <p:spPr>
          <a:xfrm>
            <a:off x="6487454" y="5020766"/>
            <a:ext cx="1952179" cy="354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050" dirty="0">
                <a:solidFill>
                  <a:srgbClr val="A9B6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ranked and segmented leads in internal decisions</a:t>
            </a:r>
            <a:endParaRPr lang="en-US" sz="1050" dirty="0"/>
          </a:p>
        </p:txBody>
      </p:sp>
      <p:sp>
        <p:nvSpPr>
          <p:cNvPr id="43" name="Shape 36"/>
          <p:cNvSpPr/>
          <p:nvPr/>
        </p:nvSpPr>
        <p:spPr>
          <a:xfrm>
            <a:off x="8798499" y="4690864"/>
            <a:ext cx="182856" cy="182860"/>
          </a:xfrm>
          <a:custGeom>
            <a:avLst/>
            <a:gdLst/>
            <a:ahLst/>
            <a:cxnLst/>
            <a:rect l="l" t="t" r="r" b="b"/>
            <a:pathLst>
              <a:path w="182856" h="182860">
                <a:moveTo>
                  <a:pt x="0" y="0"/>
                </a:moveTo>
                <a:lnTo>
                  <a:pt x="91428" y="0"/>
                </a:lnTo>
                <a:lnTo>
                  <a:pt x="182856" y="91430"/>
                </a:lnTo>
                <a:lnTo>
                  <a:pt x="91428" y="182860"/>
                </a:lnTo>
                <a:lnTo>
                  <a:pt x="0" y="182860"/>
                </a:lnTo>
                <a:lnTo>
                  <a:pt x="91428" y="91430"/>
                </a:lnTo>
                <a:close/>
              </a:path>
            </a:pathLst>
          </a:custGeom>
          <a:solidFill>
            <a:srgbClr val="0E9F8C"/>
          </a:solidFill>
          <a:ln/>
        </p:spPr>
      </p:sp>
      <p:pic>
        <p:nvPicPr>
          <p:cNvPr id="44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9449" y="4671814"/>
            <a:ext cx="220955" cy="220960"/>
          </a:xfrm>
          <a:prstGeom prst="rect">
            <a:avLst/>
          </a:prstGeom>
        </p:spPr>
      </p:pic>
      <p:sp>
        <p:nvSpPr>
          <p:cNvPr id="45" name="Shape 37"/>
          <p:cNvSpPr/>
          <p:nvPr/>
        </p:nvSpPr>
        <p:spPr>
          <a:xfrm>
            <a:off x="9027093" y="3995837"/>
            <a:ext cx="2521383" cy="1572716"/>
          </a:xfrm>
          <a:prstGeom prst="roundRect">
            <a:avLst>
              <a:gd name="adj" fmla="val 4186"/>
            </a:avLst>
          </a:prstGeom>
          <a:solidFill>
            <a:srgbClr val="16202A"/>
          </a:solidFill>
          <a:ln w="12700">
            <a:solidFill>
              <a:srgbClr val="16202A"/>
            </a:solidFill>
            <a:prstDash val="solid"/>
          </a:ln>
        </p:spPr>
      </p:sp>
      <p:sp>
        <p:nvSpPr>
          <p:cNvPr id="46" name="Text 38"/>
          <p:cNvSpPr/>
          <p:nvPr/>
        </p:nvSpPr>
        <p:spPr>
          <a:xfrm>
            <a:off x="9283170" y="4236442"/>
            <a:ext cx="2618913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00" b="1" dirty="0">
                <a:solidFill>
                  <a:srgbClr val="0E9F8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08</a:t>
            </a:r>
            <a:endParaRPr lang="en-US" sz="1100" dirty="0"/>
          </a:p>
        </p:txBody>
      </p:sp>
      <p:sp>
        <p:nvSpPr>
          <p:cNvPr id="47" name="Text 39"/>
          <p:cNvSpPr/>
          <p:nvPr/>
        </p:nvSpPr>
        <p:spPr>
          <a:xfrm>
            <a:off x="9283170" y="4622998"/>
            <a:ext cx="2618913" cy="285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50" b="1" kern="0" spc="17" dirty="0">
                <a:solidFill>
                  <a:srgbClr val="FFFFFF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Internal outputs</a:t>
            </a:r>
            <a:endParaRPr lang="en-US" sz="1550" dirty="0"/>
          </a:p>
        </p:txBody>
      </p:sp>
      <p:sp>
        <p:nvSpPr>
          <p:cNvPr id="48" name="Text 40"/>
          <p:cNvSpPr/>
          <p:nvPr/>
        </p:nvSpPr>
        <p:spPr>
          <a:xfrm>
            <a:off x="9283170" y="5020766"/>
            <a:ext cx="1952179" cy="354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050" dirty="0">
                <a:solidFill>
                  <a:srgbClr val="A9B6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Data-driven view of potential client segments</a:t>
            </a:r>
            <a:endParaRPr lang="en-US" sz="1050" dirty="0"/>
          </a:p>
        </p:txBody>
      </p:sp>
      <p:sp>
        <p:nvSpPr>
          <p:cNvPr id="49" name="Text 41"/>
          <p:cNvSpPr/>
          <p:nvPr/>
        </p:nvSpPr>
        <p:spPr>
          <a:xfrm>
            <a:off x="640044" y="5785545"/>
            <a:ext cx="11518017" cy="193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50" i="1" dirty="0">
                <a:solidFill>
                  <a:srgbClr val="7C88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 adapted from the report: repositories → preparation → analysis → ML scoring → automation → dashboards. </a:t>
            </a:r>
            <a:endParaRPr lang="en-US" sz="1050" dirty="0"/>
          </a:p>
        </p:txBody>
      </p:sp>
      <p:sp>
        <p:nvSpPr>
          <p:cNvPr id="50" name="Text 42"/>
          <p:cNvSpPr/>
          <p:nvPr/>
        </p:nvSpPr>
        <p:spPr>
          <a:xfrm>
            <a:off x="10024613" y="6382246"/>
            <a:ext cx="1523962" cy="165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21000"/>
              </a:lnSpc>
              <a:buNone/>
            </a:pPr>
            <a:r>
              <a:rPr lang="en-US" sz="900" b="1" dirty="0">
                <a:solidFill>
                  <a:srgbClr val="7C889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9</a:t>
            </a:r>
            <a:endParaRPr lang="en-US" sz="900" dirty="0"/>
          </a:p>
        </p:txBody>
      </p:sp>
      <p:sp>
        <p:nvSpPr>
          <p:cNvPr id="51" name="Text 43"/>
          <p:cNvSpPr/>
          <p:nvPr/>
        </p:nvSpPr>
        <p:spPr>
          <a:xfrm>
            <a:off x="640044" y="6436618"/>
            <a:ext cx="2740155" cy="1656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7C889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Sahil Gautam  |  CS-23411430  |  IILM University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44" y="441623"/>
            <a:ext cx="11518017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00" b="1" kern="0" spc="200" dirty="0">
                <a:solidFill>
                  <a:srgbClr val="0E9F8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CHAPTER 4.8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44" y="716260"/>
            <a:ext cx="10908432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00" b="1" kern="0" spc="35" dirty="0">
                <a:solidFill>
                  <a:srgbClr val="102A43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Methodology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44" y="1572716"/>
            <a:ext cx="10908432" cy="713184"/>
          </a:xfrm>
          <a:prstGeom prst="roundRect">
            <a:avLst>
              <a:gd name="adj" fmla="val 9231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022" y="1746448"/>
            <a:ext cx="365711" cy="365720"/>
          </a:xfrm>
          <a:prstGeom prst="ellipse">
            <a:avLst/>
          </a:prstGeom>
          <a:solidFill>
            <a:srgbClr val="0E9F8C"/>
          </a:solidFill>
          <a:ln w="12700">
            <a:solidFill>
              <a:srgbClr val="0E9F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1230" y="1816298"/>
            <a:ext cx="975296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1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44688" y="1814016"/>
            <a:ext cx="3078383" cy="266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b="1" dirty="0">
                <a:solidFill>
                  <a:srgbClr val="16202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Management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023220" y="1730970"/>
            <a:ext cx="7193775" cy="4052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200" dirty="0">
                <a:solidFill>
                  <a:srgbClr val="4450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End-to-end extraction, cleaning and pre-processing of client data drawn from diverse internal repositories, producing comprehensive client profiles.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44" y="2413992"/>
            <a:ext cx="10908432" cy="713184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6022" y="2587724"/>
            <a:ext cx="365711" cy="365720"/>
          </a:xfrm>
          <a:prstGeom prst="ellipse">
            <a:avLst/>
          </a:prstGeom>
          <a:solidFill>
            <a:srgbClr val="0E9F8C"/>
          </a:solidFill>
          <a:ln w="12700">
            <a:solidFill>
              <a:srgbClr val="0E9F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1230" y="2657574"/>
            <a:ext cx="975296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1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44688" y="2655292"/>
            <a:ext cx="3078383" cy="266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b="1" dirty="0">
                <a:solidFill>
                  <a:srgbClr val="16202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Exploratory Analysis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023220" y="2572246"/>
            <a:ext cx="7193775" cy="4052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200" dirty="0">
                <a:solidFill>
                  <a:srgbClr val="4450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Detailed exploratory data analysis to surface market trends, behavioural patterns and the key drivers behind client acquisition.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44" y="3255169"/>
            <a:ext cx="10908432" cy="713184"/>
          </a:xfrm>
          <a:prstGeom prst="roundRect">
            <a:avLst>
              <a:gd name="adj" fmla="val 9231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96022" y="3429000"/>
            <a:ext cx="365711" cy="365720"/>
          </a:xfrm>
          <a:prstGeom prst="ellipse">
            <a:avLst/>
          </a:prstGeom>
          <a:solidFill>
            <a:srgbClr val="0E9F8C"/>
          </a:solidFill>
          <a:ln w="12700">
            <a:solidFill>
              <a:srgbClr val="0E9F8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1230" y="3498850"/>
            <a:ext cx="975296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1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444688" y="3496469"/>
            <a:ext cx="3078383" cy="266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b="1" dirty="0">
                <a:solidFill>
                  <a:srgbClr val="16202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Predictive Analytics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023220" y="3413423"/>
            <a:ext cx="7193775" cy="4052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200" dirty="0">
                <a:solidFill>
                  <a:srgbClr val="4450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Application of machine-learning methods to score, rank and segment potential leads for internal review.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44" y="4096445"/>
            <a:ext cx="10908432" cy="713184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6022" y="4270177"/>
            <a:ext cx="365711" cy="365720"/>
          </a:xfrm>
          <a:prstGeom prst="ellipse">
            <a:avLst/>
          </a:prstGeom>
          <a:solidFill>
            <a:srgbClr val="0E9F8C"/>
          </a:solidFill>
          <a:ln w="12700">
            <a:solidFill>
              <a:srgbClr val="0E9F8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1230" y="4340027"/>
            <a:ext cx="975296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1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444688" y="4337745"/>
            <a:ext cx="3078383" cy="266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b="1" dirty="0">
                <a:solidFill>
                  <a:srgbClr val="16202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Workflow Automation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4023220" y="4254698"/>
            <a:ext cx="7193775" cy="4052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200" dirty="0">
                <a:solidFill>
                  <a:srgbClr val="4450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scripts and automated data pipelines that automate the client-scoring workflow and reduce manual processing effort.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44" y="4937720"/>
            <a:ext cx="10908432" cy="713184"/>
          </a:xfrm>
          <a:prstGeom prst="roundRect">
            <a:avLst>
              <a:gd name="adj" fmla="val 9231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96022" y="5111452"/>
            <a:ext cx="365711" cy="365720"/>
          </a:xfrm>
          <a:prstGeom prst="ellipse">
            <a:avLst/>
          </a:prstGeom>
          <a:solidFill>
            <a:srgbClr val="0E9F8C"/>
          </a:solidFill>
          <a:ln w="12700">
            <a:solidFill>
              <a:srgbClr val="0E9F8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1230" y="5181302"/>
            <a:ext cx="975296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1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444688" y="5179020"/>
            <a:ext cx="3078383" cy="266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b="1" dirty="0">
                <a:solidFill>
                  <a:srgbClr val="16202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Visualisation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4023220" y="5197277"/>
            <a:ext cx="7250923" cy="4052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200" dirty="0">
                <a:solidFill>
                  <a:srgbClr val="4450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Interactive dashboards that carry analytical insight through to cross-functional stakeholders in a readable form.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0044" y="5909766"/>
            <a:ext cx="11518017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00" dirty="0">
                <a:solidFill>
                  <a:srgbClr val="4865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documented workflow connects preparation, analysis, modelling, automation and visualisation for internal stakeholders. 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024613" y="6382246"/>
            <a:ext cx="1523962" cy="165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21000"/>
              </a:lnSpc>
              <a:buNone/>
            </a:pPr>
            <a:r>
              <a:rPr lang="en-US" sz="900" b="1" dirty="0">
                <a:solidFill>
                  <a:srgbClr val="7C889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10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40044" y="6436618"/>
            <a:ext cx="2740155" cy="1656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7C889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Sahil Gautam  |  CS-23411430  |  IILM University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44" y="441623"/>
            <a:ext cx="11518017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00" b="1" kern="0" spc="200" dirty="0">
                <a:solidFill>
                  <a:srgbClr val="0E9F8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ANALYSIS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44" y="716260"/>
            <a:ext cx="10908432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00" b="1" kern="0" spc="35" dirty="0">
                <a:solidFill>
                  <a:srgbClr val="102A43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Scoring Output and Segmentation</a:t>
            </a:r>
            <a:endParaRPr lang="en-US" sz="3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44" y="1691580"/>
            <a:ext cx="5851974" cy="387697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12090" y="1676400"/>
            <a:ext cx="4736386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b="1" kern="0" spc="22" dirty="0">
                <a:solidFill>
                  <a:srgbClr val="102A43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The output supports practical segmentation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6812090" y="2157710"/>
            <a:ext cx="467923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4865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scoring output can be used to distinguish higher-priority leads from leads for later review; the report does not state quantitative performance metrics.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812090" y="3108920"/>
            <a:ext cx="4736386" cy="676573"/>
          </a:xfrm>
          <a:prstGeom prst="roundRect">
            <a:avLst>
              <a:gd name="adj" fmla="val 9731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049812" y="3218359"/>
            <a:ext cx="4888782" cy="165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b="1" kern="0" spc="130" dirty="0">
                <a:solidFill>
                  <a:srgbClr val="0E9F8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LOWER-PRIORITY SEGMENT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049812" y="3374628"/>
            <a:ext cx="4888782" cy="230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50" b="1" dirty="0">
                <a:solidFill>
                  <a:srgbClr val="16202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Leads for later review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049812" y="3572669"/>
            <a:ext cx="4888782" cy="193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50" dirty="0">
                <a:solidFill>
                  <a:srgbClr val="4450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Segmented for follow-up planning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812090" y="3895328"/>
            <a:ext cx="4736386" cy="676573"/>
          </a:xfrm>
          <a:prstGeom prst="roundRect">
            <a:avLst>
              <a:gd name="adj" fmla="val 9731"/>
            </a:avLst>
          </a:prstGeom>
          <a:solidFill>
            <a:srgbClr val="16202A"/>
          </a:solidFill>
          <a:ln w="12700">
            <a:solidFill>
              <a:srgbClr val="16202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049812" y="4004766"/>
            <a:ext cx="4888782" cy="165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b="1" kern="0" spc="130" dirty="0">
                <a:solidFill>
                  <a:srgbClr val="0E9F8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HIGHER-PRIORITY SEGMENT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7049812" y="4160937"/>
            <a:ext cx="4888782" cy="230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Leads prioritised for outreach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7049812" y="4359077"/>
            <a:ext cx="4888782" cy="193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50" dirty="0">
                <a:solidFill>
                  <a:srgbClr val="A9B6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Segmented for focused outreach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812090" y="4681637"/>
            <a:ext cx="4736386" cy="676573"/>
          </a:xfrm>
          <a:prstGeom prst="roundRect">
            <a:avLst>
              <a:gd name="adj" fmla="val 9731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049812" y="4791174"/>
            <a:ext cx="4888782" cy="165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b="1" kern="0" spc="130" dirty="0">
                <a:solidFill>
                  <a:srgbClr val="0E9F8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DECISION USE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7049812" y="4947345"/>
            <a:ext cx="4888782" cy="230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50" b="1" dirty="0">
                <a:solidFill>
                  <a:srgbClr val="16202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Relative score bands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7049812" y="5145484"/>
            <a:ext cx="4888782" cy="193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50" dirty="0">
                <a:solidFill>
                  <a:srgbClr val="4450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score and segment outputs to guide review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10024613" y="6382246"/>
            <a:ext cx="1523962" cy="165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21000"/>
              </a:lnSpc>
              <a:buNone/>
            </a:pPr>
            <a:r>
              <a:rPr lang="en-US" sz="900" b="1" dirty="0">
                <a:solidFill>
                  <a:srgbClr val="7C889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13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640044" y="6436618"/>
            <a:ext cx="2740155" cy="1656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7C889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Sahil Gautam  |  CS-23411430  |  IILM University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44" y="441623"/>
            <a:ext cx="11518017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00" b="1" kern="0" spc="200" dirty="0">
                <a:solidFill>
                  <a:srgbClr val="0E9F8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TABLE 4.1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44" y="716260"/>
            <a:ext cx="10908432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00" b="1" kern="0" spc="35" dirty="0">
                <a:solidFill>
                  <a:srgbClr val="102A43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Summary of Key Contributions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44" y="1600200"/>
          <a:ext cx="10908432" cy="4041332"/>
        </p:xfrm>
        <a:graphic>
          <a:graphicData uri="http://schemas.openxmlformats.org/drawingml/2006/table">
            <a:tbl>
              <a:tblPr/>
              <a:tblGrid>
                <a:gridCol w="28986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3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233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kern="0" spc="130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CONTRIBUTION AREA</a:t>
                      </a:r>
                      <a:endParaRPr lang="en-US" sz="105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219451" marR="155444" marT="139950" marB="139950" anchor="ctr">
                    <a:lnL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kern="0" spc="130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DESCRIPTION</a:t>
                      </a:r>
                      <a:endParaRPr lang="en-US" sz="105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55444" marR="155444" marT="139950" marB="139950" anchor="ctr">
                    <a:lnL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kern="0" spc="130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OUTPUT</a:t>
                      </a:r>
                      <a:endParaRPr lang="en-US" sz="105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55444" marR="155444" marT="139950" marB="139950" anchor="ctr">
                    <a:lnL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16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620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Data Management</a:t>
                      </a:r>
                      <a:endParaRPr lang="en-US" sz="13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219451" marR="155444" marT="251199" marB="251199" anchor="ctr">
                    <a:lnL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505C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Extraction, cleaning and pre-processing of client data</a:t>
                      </a:r>
                      <a:endParaRPr lang="en-US" sz="12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55444" marR="155444" marT="251199" marB="251199" anchor="ctr">
                    <a:lnL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505C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Complete client profiles</a:t>
                      </a:r>
                      <a:endParaRPr lang="en-US" sz="12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55444" marR="155444" marT="251199" marB="251199" anchor="ctr">
                    <a:lnL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16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620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Exploratory Analysis</a:t>
                      </a:r>
                      <a:endParaRPr lang="en-US" sz="13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219451" marR="155444" marT="251199" marB="251199" anchor="ctr">
                    <a:lnL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505C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Identification of market trends and client acquisition drivers</a:t>
                      </a:r>
                      <a:endParaRPr lang="en-US" sz="12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55444" marR="155444" marT="251199" marB="251199" anchor="ctr">
                    <a:lnL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505C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Documented patterns</a:t>
                      </a:r>
                      <a:endParaRPr lang="en-US" sz="12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55444" marR="155444" marT="251199" marB="251199" anchor="ctr">
                    <a:lnL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316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620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Predictive Analytics</a:t>
                      </a:r>
                      <a:endParaRPr lang="en-US" sz="13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219451" marR="155444" marT="251199" marB="251199" anchor="ctr">
                    <a:lnL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505C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Machine learning based scoring, ranking and segmentation of leads</a:t>
                      </a:r>
                      <a:endParaRPr lang="en-US" sz="12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55444" marR="155444" marT="251199" marB="251199" anchor="ctr">
                    <a:lnL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505C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Ranked lead list</a:t>
                      </a:r>
                      <a:endParaRPr lang="en-US" sz="12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55444" marR="155444" marT="251199" marB="251199" anchor="ctr">
                    <a:lnL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316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620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Workflow Automation</a:t>
                      </a:r>
                      <a:endParaRPr lang="en-US" sz="13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219451" marR="155444" marT="251199" marB="251199" anchor="ctr">
                    <a:lnL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505C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Python scripts and automated data pipelines</a:t>
                      </a:r>
                      <a:endParaRPr lang="en-US" sz="12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55444" marR="155444" marT="251199" marB="251199" anchor="ctr">
                    <a:lnL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505C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Reduced manual effort</a:t>
                      </a:r>
                      <a:endParaRPr lang="en-US" sz="12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55444" marR="155444" marT="251199" marB="251199" anchor="ctr">
                    <a:lnL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316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620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Data Visualisation</a:t>
                      </a:r>
                      <a:endParaRPr lang="en-US" sz="13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219451" marR="155444" marT="257550" marB="257550" anchor="ctr">
                    <a:lnL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505C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Interactive dashboards for stakeholder reporting</a:t>
                      </a:r>
                      <a:endParaRPr lang="en-US" sz="12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55444" marR="155444" marT="257550" marB="257550" anchor="ctr">
                    <a:lnL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505C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Shared analytical view</a:t>
                      </a:r>
                      <a:endParaRPr lang="en-US" sz="12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55444" marR="155444" marT="257550" marB="257550" anchor="ctr">
                    <a:lnL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44" y="5849541"/>
            <a:ext cx="11518017" cy="193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50" i="1" dirty="0">
                <a:solidFill>
                  <a:srgbClr val="7C88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workstreams documented in the internship report; no quantitative performance metrics were reported. 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10024613" y="6382246"/>
            <a:ext cx="1523962" cy="165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21000"/>
              </a:lnSpc>
              <a:buNone/>
            </a:pPr>
            <a:r>
              <a:rPr lang="en-US" sz="900" b="1" dirty="0">
                <a:solidFill>
                  <a:srgbClr val="7C889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14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40044" y="6436618"/>
            <a:ext cx="2740155" cy="1656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7C889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Sahil Gautam  |  CS-23411430  |  IILM University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44" y="441623"/>
            <a:ext cx="11518017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00" b="1" kern="0" spc="200" dirty="0">
                <a:solidFill>
                  <a:srgbClr val="0E9F8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REFLECTION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44" y="716260"/>
            <a:ext cx="10908432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00" b="1" kern="0" spc="35" dirty="0">
                <a:solidFill>
                  <a:srgbClr val="102A43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Skills and Learning Outcomes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44" y="1600200"/>
            <a:ext cx="5577641" cy="3566120"/>
          </a:xfrm>
          <a:prstGeom prst="roundRect">
            <a:avLst>
              <a:gd name="adj" fmla="val 1846"/>
            </a:avLst>
          </a:prstGeom>
          <a:solidFill>
            <a:srgbClr val="F2F5F7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755" y="1908473"/>
            <a:ext cx="5455704" cy="193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50" b="1" kern="0" spc="160" dirty="0">
                <a:solidFill>
                  <a:srgbClr val="0E9F8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TECHNICAL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005755" y="2226270"/>
            <a:ext cx="4806433" cy="2108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0000"/>
              </a:lnSpc>
              <a:buSzPct val="100000"/>
              <a:buChar char="•"/>
            </a:pPr>
            <a:r>
              <a:rPr lang="en-US" sz="1250" dirty="0">
                <a:solidFill>
                  <a:srgbClr val="4450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extraction, cleaning and pre-processing</a:t>
            </a:r>
            <a:endParaRPr lang="en-US" sz="1250" dirty="0"/>
          </a:p>
          <a:p>
            <a:pPr marL="342900" indent="-342900" algn="l">
              <a:lnSpc>
                <a:spcPct val="120000"/>
              </a:lnSpc>
              <a:buSzPct val="100000"/>
              <a:buChar char="•"/>
            </a:pPr>
            <a:r>
              <a:rPr lang="en-US" sz="1250" dirty="0">
                <a:solidFill>
                  <a:srgbClr val="4450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Exploratory data analysis and distribution diagnostics</a:t>
            </a:r>
            <a:endParaRPr lang="en-US" sz="1250" dirty="0"/>
          </a:p>
          <a:p>
            <a:pPr marL="342900" indent="-342900" algn="l">
              <a:lnSpc>
                <a:spcPct val="120000"/>
              </a:lnSpc>
              <a:buSzPct val="100000"/>
              <a:buChar char="•"/>
            </a:pPr>
            <a:r>
              <a:rPr lang="en-US" sz="1250" dirty="0">
                <a:solidFill>
                  <a:srgbClr val="4450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Applying machine-learning methods to lead scoring, ranking and segmentation</a:t>
            </a:r>
            <a:endParaRPr lang="en-US" sz="1250" dirty="0"/>
          </a:p>
          <a:p>
            <a:pPr marL="342900" indent="-342900" algn="l">
              <a:lnSpc>
                <a:spcPct val="120000"/>
              </a:lnSpc>
              <a:buSzPct val="100000"/>
              <a:buChar char="•"/>
            </a:pPr>
            <a:r>
              <a:rPr lang="en-US" sz="1250" dirty="0">
                <a:solidFill>
                  <a:srgbClr val="4450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Interpreting analytical outputs for lead prioritisation</a:t>
            </a:r>
            <a:endParaRPr lang="en-US" sz="1250" dirty="0"/>
          </a:p>
          <a:p>
            <a:pPr marL="342900" indent="-342900" algn="l">
              <a:lnSpc>
                <a:spcPct val="120000"/>
              </a:lnSpc>
              <a:buSzPct val="100000"/>
              <a:buChar char="•"/>
            </a:pPr>
            <a:r>
              <a:rPr lang="en-US" sz="1250" dirty="0">
                <a:solidFill>
                  <a:srgbClr val="4450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Workflow automation with Python scripts and pipelines</a:t>
            </a:r>
            <a:endParaRPr lang="en-US" sz="1250" dirty="0"/>
          </a:p>
          <a:p>
            <a:pPr marL="342900" indent="-342900" algn="l">
              <a:lnSpc>
                <a:spcPct val="120000"/>
              </a:lnSpc>
              <a:buSzPct val="100000"/>
              <a:buChar char="•"/>
            </a:pPr>
            <a:r>
              <a:rPr lang="en-US" sz="1250" dirty="0">
                <a:solidFill>
                  <a:srgbClr val="4450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Designing interactive dashboards for internal stakeholders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583495" y="1600200"/>
            <a:ext cx="4964980" cy="3566120"/>
          </a:xfrm>
          <a:prstGeom prst="roundRect">
            <a:avLst>
              <a:gd name="adj" fmla="val 1846"/>
            </a:avLst>
          </a:prstGeom>
          <a:solidFill>
            <a:srgbClr val="F2F5F7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207" y="1908473"/>
            <a:ext cx="4843143" cy="193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50" b="1" kern="0" spc="160" dirty="0">
                <a:solidFill>
                  <a:srgbClr val="0E9F8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PROFESSIONAL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949207" y="2226270"/>
            <a:ext cx="4193872" cy="269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0000"/>
              </a:lnSpc>
              <a:buSzPct val="100000"/>
              <a:buChar char="•"/>
            </a:pPr>
            <a:r>
              <a:rPr lang="en-US" sz="1250" dirty="0">
                <a:solidFill>
                  <a:srgbClr val="4450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Structured problem-solving on an open-ended business problem</a:t>
            </a:r>
            <a:endParaRPr lang="en-US" sz="1250" dirty="0"/>
          </a:p>
          <a:p>
            <a:pPr marL="342900" indent="-342900" algn="l">
              <a:lnSpc>
                <a:spcPct val="120000"/>
              </a:lnSpc>
              <a:buSzPct val="100000"/>
              <a:buChar char="•"/>
            </a:pPr>
            <a:r>
              <a:rPr lang="en-US" sz="1250" dirty="0">
                <a:solidFill>
                  <a:srgbClr val="4450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Translating a business need into data, scoring and segmentation workflows</a:t>
            </a:r>
            <a:endParaRPr lang="en-US" sz="1250" dirty="0"/>
          </a:p>
          <a:p>
            <a:pPr marL="342900" indent="-342900" algn="l">
              <a:lnSpc>
                <a:spcPct val="120000"/>
              </a:lnSpc>
              <a:buSzPct val="100000"/>
              <a:buChar char="•"/>
            </a:pPr>
            <a:r>
              <a:rPr lang="en-US" sz="1250" dirty="0">
                <a:solidFill>
                  <a:srgbClr val="4450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Communicating findings to cross-functional stakeholders</a:t>
            </a:r>
            <a:endParaRPr lang="en-US" sz="1250" dirty="0"/>
          </a:p>
          <a:p>
            <a:pPr marL="342900" indent="-342900" algn="l">
              <a:lnSpc>
                <a:spcPct val="120000"/>
              </a:lnSpc>
              <a:buSzPct val="100000"/>
              <a:buChar char="•"/>
            </a:pPr>
            <a:r>
              <a:rPr lang="en-US" sz="1250" dirty="0">
                <a:solidFill>
                  <a:srgbClr val="4450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Working independently during a six-week remote internship</a:t>
            </a:r>
            <a:endParaRPr lang="en-US" sz="1250" dirty="0"/>
          </a:p>
          <a:p>
            <a:pPr marL="342900" indent="-342900" algn="l">
              <a:lnSpc>
                <a:spcPct val="120000"/>
              </a:lnSpc>
              <a:buSzPct val="100000"/>
              <a:buChar char="•"/>
            </a:pPr>
            <a:r>
              <a:rPr lang="en-US" sz="1250" dirty="0">
                <a:solidFill>
                  <a:srgbClr val="4450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Documenting analysis and workflow decisions clearly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0044" y="5390059"/>
            <a:ext cx="10908432" cy="441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i="1" dirty="0">
                <a:solidFill>
                  <a:srgbClr val="4865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internship strengthened practical data-science capability across preparation, analysis, modelling, automation and visualisation; the report does not quantify these outcomes.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24613" y="6382246"/>
            <a:ext cx="1523962" cy="165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21000"/>
              </a:lnSpc>
              <a:buNone/>
            </a:pPr>
            <a:r>
              <a:rPr lang="en-US" sz="900" b="1" dirty="0">
                <a:solidFill>
                  <a:srgbClr val="7C889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16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44" y="6436618"/>
            <a:ext cx="2740155" cy="1656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7C889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Sahil Gautam  |  CS-23411430  |  IILM University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44" y="441623"/>
            <a:ext cx="11518017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00" b="1" kern="0" spc="200" dirty="0">
                <a:solidFill>
                  <a:srgbClr val="0E9F8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LOOKING AHEAD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44" y="716260"/>
            <a:ext cx="10908432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00" b="1" kern="0" spc="35" dirty="0">
                <a:solidFill>
                  <a:srgbClr val="102A43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Future Scope and Boundaries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44" y="1682452"/>
            <a:ext cx="383967" cy="383977"/>
          </a:xfrm>
          <a:prstGeom prst="roundRect">
            <a:avLst>
              <a:gd name="adj" fmla="val 50000"/>
            </a:avLst>
          </a:prstGeom>
          <a:solidFill>
            <a:srgbClr val="0E9F8C"/>
          </a:solidFill>
          <a:ln w="12700">
            <a:solidFill>
              <a:srgbClr val="0E9F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35252" y="1761430"/>
            <a:ext cx="993552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1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61832" y="1658045"/>
            <a:ext cx="3718427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b="1" kern="0" spc="19" dirty="0">
                <a:solidFill>
                  <a:srgbClr val="16202A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Scale the pipeline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1886" y="1781770"/>
            <a:ext cx="6919541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50" dirty="0">
                <a:solidFill>
                  <a:srgbClr val="4865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Potential next step: extend the documented workflow to additional internal data sources and more regular pipeline runs.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44" y="2480766"/>
            <a:ext cx="10908432" cy="12700"/>
          </a:xfrm>
          <a:prstGeom prst="rect">
            <a:avLst/>
          </a:prstGeom>
          <a:solidFill>
            <a:srgbClr val="DCE3E8"/>
          </a:solidFill>
          <a:ln/>
        </p:spPr>
      </p:sp>
      <p:sp>
        <p:nvSpPr>
          <p:cNvPr id="9" name="Shape 7"/>
          <p:cNvSpPr/>
          <p:nvPr/>
        </p:nvSpPr>
        <p:spPr>
          <a:xfrm>
            <a:off x="640044" y="2706588"/>
            <a:ext cx="383967" cy="383977"/>
          </a:xfrm>
          <a:prstGeom prst="roundRect">
            <a:avLst>
              <a:gd name="adj" fmla="val 50000"/>
            </a:avLst>
          </a:prstGeom>
          <a:solidFill>
            <a:srgbClr val="0E9F8C"/>
          </a:solidFill>
          <a:ln w="12700">
            <a:solidFill>
              <a:srgbClr val="0E9F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5252" y="2785566"/>
            <a:ext cx="993552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1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61832" y="2682180"/>
            <a:ext cx="3718427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b="1" kern="0" spc="19" dirty="0">
                <a:solidFill>
                  <a:srgbClr val="16202A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Refine the scoring model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571886" y="2805906"/>
            <a:ext cx="6919541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50" dirty="0">
                <a:solidFill>
                  <a:srgbClr val="4865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Potential next step: validate and refine scoring as more client-outcome data becomes available.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44" y="3504902"/>
            <a:ext cx="10908432" cy="12700"/>
          </a:xfrm>
          <a:prstGeom prst="rect">
            <a:avLst/>
          </a:prstGeom>
          <a:solidFill>
            <a:srgbClr val="DCE3E8"/>
          </a:solidFill>
          <a:ln/>
        </p:spPr>
      </p:sp>
      <p:sp>
        <p:nvSpPr>
          <p:cNvPr id="14" name="Shape 12"/>
          <p:cNvSpPr/>
          <p:nvPr/>
        </p:nvSpPr>
        <p:spPr>
          <a:xfrm>
            <a:off x="640044" y="3730724"/>
            <a:ext cx="383967" cy="383977"/>
          </a:xfrm>
          <a:prstGeom prst="roundRect">
            <a:avLst>
              <a:gd name="adj" fmla="val 50000"/>
            </a:avLst>
          </a:prstGeom>
          <a:solidFill>
            <a:srgbClr val="0E9F8C"/>
          </a:solidFill>
          <a:ln w="12700">
            <a:solidFill>
              <a:srgbClr val="0E9F8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5252" y="3809702"/>
            <a:ext cx="993552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1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61832" y="3706316"/>
            <a:ext cx="3718427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b="1" kern="0" spc="19" dirty="0">
                <a:solidFill>
                  <a:srgbClr val="16202A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Extend the dashboards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571886" y="3937992"/>
            <a:ext cx="697669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50" dirty="0">
                <a:solidFill>
                  <a:srgbClr val="4865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Potential next step: extend dashboards with stakeholder-friendly views of score and segment outputs.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44" y="4529038"/>
            <a:ext cx="10908432" cy="12700"/>
          </a:xfrm>
          <a:prstGeom prst="rect">
            <a:avLst/>
          </a:prstGeom>
          <a:solidFill>
            <a:srgbClr val="DCE3E8"/>
          </a:solidFill>
          <a:ln/>
        </p:spPr>
      </p:sp>
      <p:sp>
        <p:nvSpPr>
          <p:cNvPr id="19" name="Shape 17"/>
          <p:cNvSpPr/>
          <p:nvPr/>
        </p:nvSpPr>
        <p:spPr>
          <a:xfrm>
            <a:off x="640044" y="4754860"/>
            <a:ext cx="383967" cy="383977"/>
          </a:xfrm>
          <a:prstGeom prst="roundRect">
            <a:avLst>
              <a:gd name="adj" fmla="val 50000"/>
            </a:avLst>
          </a:prstGeom>
          <a:solidFill>
            <a:srgbClr val="0E9F8C"/>
          </a:solidFill>
          <a:ln w="12700">
            <a:solidFill>
              <a:srgbClr val="0E9F8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5252" y="4833838"/>
            <a:ext cx="993552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1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261832" y="4546997"/>
            <a:ext cx="3411551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b="1" kern="0" spc="19" dirty="0">
                <a:solidFill>
                  <a:srgbClr val="16202A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Integrate with business systems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4571886" y="4854178"/>
            <a:ext cx="6919541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50" dirty="0">
                <a:solidFill>
                  <a:srgbClr val="4865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Potential next step: explore integration with relevant internal systems if the workflow is taken beyond the internship scope.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40044" y="5849541"/>
            <a:ext cx="10908432" cy="3865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50" i="1" dirty="0">
                <a:solidFill>
                  <a:srgbClr val="7C88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These are proposed extensions only; the internship scope covered internal analysis, modelling, automation and visualisation, not organisation-wide deployment or long-term maintenance.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0024613" y="6382246"/>
            <a:ext cx="1523962" cy="165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21000"/>
              </a:lnSpc>
              <a:buNone/>
            </a:pPr>
            <a:r>
              <a:rPr lang="en-US" sz="900" b="1" dirty="0">
                <a:solidFill>
                  <a:srgbClr val="7C889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17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0044" y="6436618"/>
            <a:ext cx="2740155" cy="1656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7C889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Sahil Gautam  |  CS-23411430  |  IILM University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44" y="441623"/>
            <a:ext cx="11518017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00" b="1" kern="0" spc="200" dirty="0">
                <a:solidFill>
                  <a:srgbClr val="0E9F8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CHAPTER 4.10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44" y="716260"/>
            <a:ext cx="10908432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00" b="1" kern="0" spc="35" dirty="0">
                <a:solidFill>
                  <a:srgbClr val="102A43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Internship Completion Certificate</a:t>
            </a:r>
            <a:endParaRPr lang="en-US" sz="3200" dirty="0"/>
          </a:p>
        </p:txBody>
      </p:sp>
      <p:pic>
        <p:nvPicPr>
          <p:cNvPr id="4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886103" y="1491232"/>
            <a:ext cx="3063104" cy="433253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5" name="Text 2"/>
          <p:cNvSpPr/>
          <p:nvPr/>
        </p:nvSpPr>
        <p:spPr>
          <a:xfrm>
            <a:off x="7406395" y="1587996"/>
            <a:ext cx="4142081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b="1" kern="0" spc="22" dirty="0">
                <a:solidFill>
                  <a:srgbClr val="102A43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Issued by Colourbar Communications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7406395" y="2395438"/>
            <a:ext cx="4751666" cy="165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b="1" kern="0" spc="130" dirty="0">
                <a:solidFill>
                  <a:srgbClr val="0E9F8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ISSUED TO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406395" y="2584450"/>
            <a:ext cx="4751666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00" dirty="0">
                <a:solidFill>
                  <a:srgbClr val="1620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Mr. Sahil Gautam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406395" y="2846487"/>
            <a:ext cx="4142081" cy="12700"/>
          </a:xfrm>
          <a:prstGeom prst="rect">
            <a:avLst/>
          </a:prstGeom>
          <a:solidFill>
            <a:srgbClr val="DCE3E8"/>
          </a:solidFill>
          <a:ln/>
        </p:spPr>
      </p:sp>
      <p:sp>
        <p:nvSpPr>
          <p:cNvPr id="9" name="Text 6"/>
          <p:cNvSpPr/>
          <p:nvPr/>
        </p:nvSpPr>
        <p:spPr>
          <a:xfrm>
            <a:off x="7406395" y="2962374"/>
            <a:ext cx="4751666" cy="165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b="1" kern="0" spc="130" dirty="0">
                <a:solidFill>
                  <a:srgbClr val="0E9F8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ROLE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406395" y="3151287"/>
            <a:ext cx="4751666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00" dirty="0">
                <a:solidFill>
                  <a:srgbClr val="1620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Science Intern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406395" y="3413423"/>
            <a:ext cx="4142081" cy="12700"/>
          </a:xfrm>
          <a:prstGeom prst="rect">
            <a:avLst/>
          </a:prstGeom>
          <a:solidFill>
            <a:srgbClr val="DCE3E8"/>
          </a:solidFill>
          <a:ln/>
        </p:spPr>
      </p:sp>
      <p:sp>
        <p:nvSpPr>
          <p:cNvPr id="12" name="Text 9"/>
          <p:cNvSpPr/>
          <p:nvPr/>
        </p:nvSpPr>
        <p:spPr>
          <a:xfrm>
            <a:off x="7406395" y="3529310"/>
            <a:ext cx="4751666" cy="165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b="1" kern="0" spc="130" dirty="0">
                <a:solidFill>
                  <a:srgbClr val="0E9F8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DEPARTMENT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7406395" y="3718223"/>
            <a:ext cx="4751666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00" dirty="0">
                <a:solidFill>
                  <a:srgbClr val="1620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Artificial Intelligence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406395" y="3980359"/>
            <a:ext cx="4142081" cy="12700"/>
          </a:xfrm>
          <a:prstGeom prst="rect">
            <a:avLst/>
          </a:prstGeom>
          <a:solidFill>
            <a:srgbClr val="DCE3E8"/>
          </a:solidFill>
          <a:ln/>
        </p:spPr>
      </p:sp>
      <p:sp>
        <p:nvSpPr>
          <p:cNvPr id="15" name="Text 12"/>
          <p:cNvSpPr/>
          <p:nvPr/>
        </p:nvSpPr>
        <p:spPr>
          <a:xfrm>
            <a:off x="7406395" y="4096246"/>
            <a:ext cx="4751666" cy="165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b="1" kern="0" spc="130" dirty="0">
                <a:solidFill>
                  <a:srgbClr val="0E9F8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SIGNED BY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7406395" y="4285159"/>
            <a:ext cx="4751666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00" dirty="0">
                <a:solidFill>
                  <a:srgbClr val="1620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Nitin Narula, Partner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7406395" y="4547295"/>
            <a:ext cx="4142081" cy="12700"/>
          </a:xfrm>
          <a:prstGeom prst="rect">
            <a:avLst/>
          </a:prstGeom>
          <a:solidFill>
            <a:srgbClr val="DCE3E8"/>
          </a:solidFill>
          <a:ln/>
        </p:spPr>
      </p:sp>
      <p:sp>
        <p:nvSpPr>
          <p:cNvPr id="18" name="Text 15"/>
          <p:cNvSpPr/>
          <p:nvPr/>
        </p:nvSpPr>
        <p:spPr>
          <a:xfrm>
            <a:off x="7406395" y="4663182"/>
            <a:ext cx="4751666" cy="165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b="1" kern="0" spc="130" dirty="0">
                <a:solidFill>
                  <a:srgbClr val="0E9F8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DATED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7406395" y="4852095"/>
            <a:ext cx="4751666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00" dirty="0">
                <a:solidFill>
                  <a:srgbClr val="1620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 July 2026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7406395" y="5114230"/>
            <a:ext cx="4142081" cy="12700"/>
          </a:xfrm>
          <a:prstGeom prst="rect">
            <a:avLst/>
          </a:prstGeom>
          <a:solidFill>
            <a:srgbClr val="DCE3E8"/>
          </a:solidFill>
          <a:ln/>
        </p:spPr>
      </p:sp>
      <p:sp>
        <p:nvSpPr>
          <p:cNvPr id="21" name="Text 18"/>
          <p:cNvSpPr/>
          <p:nvPr/>
        </p:nvSpPr>
        <p:spPr>
          <a:xfrm>
            <a:off x="7406395" y="5305028"/>
            <a:ext cx="4084932" cy="8120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150" dirty="0">
                <a:solidFill>
                  <a:srgbClr val="4865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certificate confirms Sahil Gautam's Data Science Intern role, the Artificial Intelligence department, the project context and the six-week remote internship. Its date is 25 July 2026.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10024613" y="6382246"/>
            <a:ext cx="1523962" cy="165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21000"/>
              </a:lnSpc>
              <a:buNone/>
            </a:pPr>
            <a:r>
              <a:rPr lang="en-US" sz="900" b="1" dirty="0">
                <a:solidFill>
                  <a:srgbClr val="7C889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18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640044" y="6436618"/>
            <a:ext cx="2740155" cy="1656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7C889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Sahil Gautam  |  CS-23411430  |  IILM University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1285</Words>
  <Application>Microsoft Office PowerPoint</Application>
  <PresentationFormat>Widescreen</PresentationFormat>
  <Paragraphs>247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Manrope Bold</vt:lpstr>
      <vt:lpstr>Caladea</vt:lpstr>
      <vt:lpstr>Carlito</vt:lpstr>
      <vt:lpstr>Inter Bold</vt:lpstr>
      <vt:lpstr>Caladea Bold</vt:lpstr>
      <vt:lpstr>Inter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Ramandeep Singh</cp:lastModifiedBy>
  <cp:revision>3</cp:revision>
  <dcterms:created xsi:type="dcterms:W3CDTF">2026-09-18T15:22:15Z</dcterms:created>
  <dcterms:modified xsi:type="dcterms:W3CDTF">2026-09-21T06:56:59Z</dcterms:modified>
</cp:coreProperties>
</file>